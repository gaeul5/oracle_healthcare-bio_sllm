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3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R0</c:v>
                </c:pt>
              </c:strCache>
            </c:strRef>
          </c:tx>
          <c:spPr>
            <a:solidFill>
              <a:srgbClr val="9AA0A6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555555"/>
                    </a:solidFill>
                    <a:latin typeface="Pretendard"/>
                  </a:defRPr>
                </a:pPr>
                <a:endParaRPr lang="ko-Kore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37.200000000000003</c:v>
                </c:pt>
                <c:pt idx="1">
                  <c:v>45.1</c:v>
                </c:pt>
                <c:pt idx="2">
                  <c:v>45.6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9C-0B4F-BB15-7F5F2BBAD0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C8CDD2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555555"/>
                    </a:solidFill>
                    <a:latin typeface="Pretendard"/>
                  </a:defRPr>
                </a:pPr>
                <a:endParaRPr lang="ko-Kore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10.199999999999999</c:v>
                </c:pt>
                <c:pt idx="1">
                  <c:v>10.199999999999999</c:v>
                </c:pt>
                <c:pt idx="2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9C-0B4F-BB15-7F5F2BBAD0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6695FF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555555"/>
                    </a:solidFill>
                    <a:latin typeface="Pretendard"/>
                  </a:defRPr>
                </a:pPr>
                <a:endParaRPr lang="ko-Kore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49.7</c:v>
                </c:pt>
                <c:pt idx="1">
                  <c:v>54.4</c:v>
                </c:pt>
                <c:pt idx="2">
                  <c:v>59.5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B9C-0B4F-BB15-7F5F2BBAD0B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R4</c:v>
                </c:pt>
              </c:strCache>
            </c:strRef>
          </c:tx>
          <c:spPr>
            <a:solidFill>
              <a:srgbClr val="9F63E2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555555"/>
                    </a:solidFill>
                    <a:latin typeface="Pretendard"/>
                  </a:defRPr>
                </a:pPr>
                <a:endParaRPr lang="ko-Kore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48.8</c:v>
                </c:pt>
                <c:pt idx="1">
                  <c:v>54.3</c:v>
                </c:pt>
                <c:pt idx="2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B9C-0B4F-BB15-7F5F2BBAD0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C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37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R0</c:v>
                </c:pt>
              </c:strCache>
            </c:strRef>
          </c:tx>
          <c:spPr>
            <a:solidFill>
              <a:srgbClr val="9AA0A6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555555"/>
                    </a:solidFill>
                    <a:latin typeface="Pretendard"/>
                  </a:defRPr>
                </a:pPr>
                <a:endParaRPr lang="ko-Kore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9.1999999999999993</c:v>
                </c:pt>
                <c:pt idx="1">
                  <c:v>16.100000000000001</c:v>
                </c:pt>
                <c:pt idx="2">
                  <c:v>11.1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51-8146-BC42-97CFDF3854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C8CDD2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555555"/>
                    </a:solidFill>
                    <a:latin typeface="Pretendard"/>
                  </a:defRPr>
                </a:pPr>
                <a:endParaRPr lang="ko-Kore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4.5</c:v>
                </c:pt>
                <c:pt idx="1">
                  <c:v>5.0999999999999996</c:v>
                </c:pt>
                <c:pt idx="2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51-8146-BC42-97CFDF3854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6695FF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555555"/>
                    </a:solidFill>
                    <a:latin typeface="Pretendard"/>
                  </a:defRPr>
                </a:pPr>
                <a:endParaRPr lang="ko-Kore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19.399999999999999</c:v>
                </c:pt>
                <c:pt idx="1">
                  <c:v>25</c:v>
                </c:pt>
                <c:pt idx="2">
                  <c:v>20.100000000000001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51-8146-BC42-97CFDF38549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R4</c:v>
                </c:pt>
              </c:strCache>
            </c:strRef>
          </c:tx>
          <c:spPr>
            <a:solidFill>
              <a:srgbClr val="9F63E2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555555"/>
                    </a:solidFill>
                    <a:latin typeface="Pretendard"/>
                  </a:defRPr>
                </a:pPr>
                <a:endParaRPr lang="ko-Kore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19.600000000000001</c:v>
                </c:pt>
                <c:pt idx="1">
                  <c:v>25</c:v>
                </c:pt>
                <c:pt idx="2">
                  <c:v>21.8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051-8146-BC42-97CFDF3854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C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37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737373"/>
                </a:solidFill>
                <a:latin typeface="Pretendard"/>
              </a:defRPr>
            </a:pPr>
            <a:r>
              <a:rPr lang="en" sz="1200" b="0" i="0" u="none" strike="noStrike">
                <a:solidFill>
                  <a:srgbClr val="737373"/>
                </a:solidFill>
                <a:latin typeface="Pretendard"/>
              </a:rPr>
              <a:t>R3 − R2 </a:t>
            </a:r>
            <a:r>
              <a:rPr lang="ko-KR" altLang="en-US" sz="1200" b="0" i="0" u="none" strike="noStrike">
                <a:solidFill>
                  <a:srgbClr val="737373"/>
                </a:solidFill>
                <a:latin typeface="Pretendard"/>
              </a:rPr>
              <a:t>격차 </a:t>
            </a:r>
            <a:r>
              <a:rPr lang="en-US" altLang="ko-KR" sz="1200" b="0" i="0" u="none" strike="noStrike">
                <a:solidFill>
                  <a:srgbClr val="737373"/>
                </a:solidFill>
                <a:latin typeface="Pretendard"/>
              </a:rPr>
              <a:t>(</a:t>
            </a:r>
            <a:r>
              <a:rPr lang="en" sz="1200" b="0" i="0" u="none" strike="noStrike">
                <a:solidFill>
                  <a:srgbClr val="737373"/>
                </a:solidFill>
                <a:latin typeface="Pretendard"/>
              </a:rPr>
              <a:t>strict F1, forum→lit)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forum → literature</c:v>
                </c:pt>
              </c:strCache>
            </c:strRef>
          </c:tx>
          <c:spPr>
            <a:ln w="38100" cap="flat">
              <a:solidFill>
                <a:srgbClr val="6695F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6695FF"/>
              </a:solidFill>
              <a:ln w="9525" cap="flat">
                <a:solidFill>
                  <a:srgbClr val="6695FF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55555"/>
                    </a:solidFill>
                    <a:latin typeface="Pretendard"/>
                  </a:defRPr>
                </a:pPr>
                <a:endParaRPr lang="ko-Kore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39.5</c:v>
                </c:pt>
                <c:pt idx="1">
                  <c:v>44.2</c:v>
                </c:pt>
                <c:pt idx="2">
                  <c:v>48.9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42-9941-BCB4-B823EC469F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literature → forum</c:v>
                </c:pt>
              </c:strCache>
            </c:strRef>
          </c:tx>
          <c:spPr>
            <a:ln w="38100" cap="flat">
              <a:solidFill>
                <a:srgbClr val="9F63E2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9F63E2"/>
              </a:solidFill>
              <a:ln w="9525" cap="flat">
                <a:solidFill>
                  <a:srgbClr val="9F63E2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55555"/>
                    </a:solidFill>
                    <a:latin typeface="Pretendard"/>
                  </a:defRPr>
                </a:pPr>
                <a:endParaRPr lang="ko-Kore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14.9</c:v>
                </c:pt>
                <c:pt idx="1">
                  <c:v>19.899999999999999</c:v>
                </c:pt>
                <c:pt idx="2">
                  <c:v>15.2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42-9941-BCB4-B823EC469F2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C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37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44444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296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9628B-FC1A-3A76-614B-A78B4344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7D826-BE70-EDE4-87EB-EC3560F66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9B2626-1B37-D864-CA9F-916B0615C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A1533-3673-6DC6-1897-D3F8675E6B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26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 E S E A R C H   B R I E F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8076895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ADE  ·  Qwen2.5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669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REPRESENTATION FORMAT × CROSS-DOMAIN GENERALIZATION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2450592"/>
            <a:ext cx="2395728" cy="658368"/>
          </a:xfrm>
          <a:prstGeom prst="rect">
            <a:avLst/>
          </a:prstGeom>
          <a:solidFill>
            <a:srgbClr val="C1FF72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 형식이 소형 언어모델의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간 이상반응(ADE) 추출에 미치는 영향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68680" y="4343400"/>
            <a:ext cx="29489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4343400"/>
            <a:ext cx="2948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Qwen2.5  0.5B / 1.5B / 3B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46220" y="4343400"/>
            <a:ext cx="8458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046220" y="4343400"/>
            <a:ext cx="845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QLoRA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20640" y="4343400"/>
            <a:ext cx="210769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120640" y="4343400"/>
            <a:ext cx="2107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R0 · R2 · R3 · R4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6932" y="434340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7456932" y="43434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forum ↔ literature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5989320"/>
            <a:ext cx="104698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68680" y="6080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사전등록 실험 · Preregistered study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6080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Qwen2.5-7B-Instruct (teacher, open-weight)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 E S E A R C H   B R I E F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8076895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ADE  ·  Qwen2.5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r>
              <a:rPr lang="en-US" sz="10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0" y="4572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0" y="658368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129844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소형 모델의 도메인 간 ADE 추출은 왜 어려운가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093976"/>
            <a:ext cx="100584" cy="384048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115568" y="2011680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ADE(약물 이상반응) 추출  —  </a:t>
            </a:r>
            <a:r>
              <a:rPr lang="en-US" sz="135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약물감시(pharmacovigilance)의 핵심 과제다.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3026664"/>
            <a:ext cx="100584" cy="384048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115568" y="2944368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포럼(SNS 후기) ↔ 논문 초록(문헌)  —  </a:t>
            </a:r>
            <a:r>
              <a:rPr lang="en-US" sz="135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어휘·문체 차이로 도메인 전이가 특히 어렵다.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3959352"/>
            <a:ext cx="100584" cy="384048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15568" y="3877056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MultiADE (Dai et al., 2024)  —  </a:t>
            </a:r>
            <a:r>
              <a:rPr lang="en-US" sz="135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코퍼스군에서 이 비대칭을 실측했다.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4892040"/>
            <a:ext cx="100584" cy="384048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115568" y="4809744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연구의 개입  —  </a:t>
            </a:r>
            <a:r>
              <a:rPr lang="en-US" sz="135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구조가 아니라 학습 데이터의 표현 형식을 조작한다.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452360" y="2011680"/>
            <a:ext cx="3913632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726680" y="221284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 U L T I A D E   기 준 선  ( F 1 )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257860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→ 평가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177272" y="257860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26680" y="2980944"/>
            <a:ext cx="3364992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726680" y="2980944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PsyTAR → PHEE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29809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27.6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26680" y="3383280"/>
            <a:ext cx="3364992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7726680" y="338328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CADEC → PHEE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0177272" y="33832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22.5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26680" y="3785616"/>
            <a:ext cx="3364992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7726680" y="3785616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PHEE → CADEC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177272" y="378561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9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13.1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26680" y="4187952"/>
            <a:ext cx="3364992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7726680" y="4187952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PHEE → PsyTAR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0177272" y="418795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9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26680" y="4590288"/>
            <a:ext cx="3364992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Shape 31"/>
          <p:cNvSpPr/>
          <p:nvPr/>
        </p:nvSpPr>
        <p:spPr>
          <a:xfrm>
            <a:off x="7726680" y="4828032"/>
            <a:ext cx="1005840" cy="566928"/>
          </a:xfrm>
          <a:prstGeom prst="rect">
            <a:avLst/>
          </a:prstGeom>
          <a:solidFill>
            <a:srgbClr val="C1FF72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7726680" y="4709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4.2×</a:t>
            </a:r>
            <a:endParaRPr lang="en-US" sz="4000" dirty="0"/>
          </a:p>
        </p:txBody>
      </p:sp>
      <p:sp>
        <p:nvSpPr>
          <p:cNvPr id="35" name="Text 33"/>
          <p:cNvSpPr txBox="1"/>
          <p:nvPr/>
        </p:nvSpPr>
        <p:spPr>
          <a:xfrm>
            <a:off x="7726680" y="5440680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문헌→포럼이 포럼→문헌보다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4배 이상 어렵다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 E S E A R C H   B R I E F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8076895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ADE  ·  Qwen2.5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r>
              <a:rPr lang="en-US" sz="10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0" y="4572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0" y="658368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Hypothesis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129844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 형식이 일반화 성능을 좌우하는가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011680"/>
            <a:ext cx="1054577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9" name="Shape 7"/>
          <p:cNvSpPr/>
          <p:nvPr/>
        </p:nvSpPr>
        <p:spPr>
          <a:xfrm>
            <a:off x="868680" y="2011680"/>
            <a:ext cx="118872" cy="1005840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188720" y="21762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669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432304"/>
            <a:ext cx="10042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데이터의 표현 형식이 소형 생성 언어모델(0.5B–3B)의 도메인 간 ADE 추출 일반화에 영향을 주는가?  그 효과는 모델 크기가 작을수록 커지는가?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246120"/>
            <a:ext cx="5090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3" name="Shape 11"/>
          <p:cNvSpPr/>
          <p:nvPr/>
        </p:nvSpPr>
        <p:spPr>
          <a:xfrm>
            <a:off x="1143000" y="3538728"/>
            <a:ext cx="868680" cy="566928"/>
          </a:xfrm>
          <a:prstGeom prst="roundRect">
            <a:avLst>
              <a:gd name="adj" fmla="val 16129"/>
            </a:avLst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143000" y="3538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H1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3520440"/>
            <a:ext cx="3489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인과 구조를 명시한 형식(R3/R4)이, 동일 교사·동일 원문의 자유서술(R2)보다 미학습 도메인에서 높은 F1을 보인다.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24448" y="3246120"/>
            <a:ext cx="5090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7" name="Shape 15"/>
          <p:cNvSpPr/>
          <p:nvPr/>
        </p:nvSpPr>
        <p:spPr>
          <a:xfrm>
            <a:off x="6598768" y="3538728"/>
            <a:ext cx="868680" cy="566928"/>
          </a:xfrm>
          <a:prstGeom prst="roundRect">
            <a:avLst>
              <a:gd name="adj" fmla="val 16129"/>
            </a:avLst>
          </a:prstGeom>
          <a:solidFill>
            <a:srgbClr val="9F63E2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598768" y="3538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H2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650328" y="3520440"/>
            <a:ext cx="3489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H1의 효과 크기는 모델 파라미터 수가 작을수록 크다.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5138928"/>
            <a:ext cx="1417320" cy="310896"/>
          </a:xfrm>
          <a:prstGeom prst="rect">
            <a:avLst/>
          </a:prstGeom>
          <a:solidFill>
            <a:srgbClr val="C1FF72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868680" y="51023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사전등록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5102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H1·H2가 기각되어도 결과로 보고한다 (falsifiable).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 E S E A R C H   B R I E F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8076895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ADE  ·  Qwen2.5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r>
              <a:rPr lang="en-US" sz="10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0" y="4572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0" y="658368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129844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4가지 표현 형식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2396414" cy="306324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9" name="Shape 7"/>
          <p:cNvSpPr/>
          <p:nvPr/>
        </p:nvSpPr>
        <p:spPr>
          <a:xfrm>
            <a:off x="1124712" y="2350008"/>
            <a:ext cx="914400" cy="566928"/>
          </a:xfrm>
          <a:prstGeom prst="roundRect">
            <a:avLst>
              <a:gd name="adj" fmla="val 16129"/>
            </a:avLst>
          </a:prstGeom>
          <a:solidFill>
            <a:srgbClr val="9AA0A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124712" y="23500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" y="3108960"/>
            <a:ext cx="18843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 그대로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24712" y="3813048"/>
            <a:ext cx="188435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24712" y="3931920"/>
            <a:ext cx="18843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교사 미사용 — 원본 주석을 그대로 목표 출력으로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85134" y="2057400"/>
            <a:ext cx="2396414" cy="306324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5" name="Shape 13"/>
          <p:cNvSpPr/>
          <p:nvPr/>
        </p:nvSpPr>
        <p:spPr>
          <a:xfrm>
            <a:off x="3841166" y="2350008"/>
            <a:ext cx="914400" cy="566928"/>
          </a:xfrm>
          <a:prstGeom prst="roundRect">
            <a:avLst>
              <a:gd name="adj" fmla="val 16129"/>
            </a:avLst>
          </a:prstGeom>
          <a:solidFill>
            <a:srgbClr val="C8CDD2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3841166" y="23500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R2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841166" y="3108960"/>
            <a:ext cx="18843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자유서술 (통제군)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41166" y="3813048"/>
            <a:ext cx="188435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3841166" y="3931920"/>
            <a:ext cx="18843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교사가 3–5문장 산문으로 설명 — 구조 없이 지식만 전이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1588" y="2057400"/>
            <a:ext cx="2396414" cy="306324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1" name="Shape 19"/>
          <p:cNvSpPr/>
          <p:nvPr/>
        </p:nvSpPr>
        <p:spPr>
          <a:xfrm>
            <a:off x="6557620" y="2350008"/>
            <a:ext cx="914400" cy="566928"/>
          </a:xfrm>
          <a:prstGeom prst="roundRect">
            <a:avLst>
              <a:gd name="adj" fmla="val 16129"/>
            </a:avLst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557620" y="23500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R3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557620" y="3108960"/>
            <a:ext cx="18843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 필드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57620" y="3813048"/>
            <a:ext cx="188435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6557620" y="3931920"/>
            <a:ext cx="18843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drug / event / context / onset / severity 등 고정 필드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18041" y="2057400"/>
            <a:ext cx="2396414" cy="306324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7" name="Shape 25"/>
          <p:cNvSpPr/>
          <p:nvPr/>
        </p:nvSpPr>
        <p:spPr>
          <a:xfrm>
            <a:off x="9274073" y="2350008"/>
            <a:ext cx="914400" cy="566928"/>
          </a:xfrm>
          <a:prstGeom prst="roundRect">
            <a:avLst>
              <a:gd name="adj" fmla="val 16129"/>
            </a:avLst>
          </a:prstGeom>
          <a:solidFill>
            <a:srgbClr val="9F63E2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9274073" y="23500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R4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9274073" y="3108960"/>
            <a:ext cx="18843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 + 판단 근거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274073" y="3813048"/>
            <a:ext cx="188435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9274073" y="3931920"/>
            <a:ext cx="18843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R3 + judgement (인과 판단 한 줄) 추가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8680" y="5394960"/>
            <a:ext cx="10545775" cy="685800"/>
          </a:xfrm>
          <a:prstGeom prst="roundRect">
            <a:avLst>
              <a:gd name="adj" fmla="val 10667"/>
            </a:avLst>
          </a:prstGeom>
          <a:solidFill>
            <a:srgbClr val="FDFDFB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1143000" y="5394960"/>
            <a:ext cx="9997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69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통제 조건   </a:t>
            </a:r>
            <a:r>
              <a:rPr lang="en-US" sz="125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교사 모델 · 원문 · 생성 파라미터 동일   /   출력 토큰 수 ±20% 이내   /   교사는 오픈웨이트만 사용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 E S E A R C H   B R I E F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8076895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ADE  ·  Qwen2.5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r>
              <a:rPr lang="en-US" sz="10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0" y="4572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0" y="658368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129844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72개 조합 = 모델 3 × 조건 4 × 도메인 2 × 시드 3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176272"/>
            <a:ext cx="100584" cy="457200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21214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코퍼스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395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CADECv2 (3,526) · CADEC v1 (1,155) · PsyTAR (835) · PHEE (4,824)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3017520"/>
            <a:ext cx="100584" cy="457200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097280" y="29626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모델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2369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Qwen2.5-Instruct 0.5B / 1.5B / 3B, QLoRA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3858768"/>
            <a:ext cx="100584" cy="457200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097280" y="38039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교사 모델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0782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Qwen2.5-7B-Instruct (오픈웨이트, R2/R3/R4 생성 전용)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" y="4700016"/>
            <a:ext cx="100584" cy="457200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097280" y="46451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9194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도메인당 고정 샘플 400건, strict / relaxed F1 병행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5623560"/>
            <a:ext cx="1234440" cy="548640"/>
          </a:xfrm>
          <a:prstGeom prst="rect">
            <a:avLst/>
          </a:prstGeom>
          <a:solidFill>
            <a:srgbClr val="C1FF72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822960" y="54406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5669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training runs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49440" y="2011680"/>
            <a:ext cx="4416552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7269480" y="219456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 I P E L I N 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69480" y="26060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9E9E9"/>
          </a:solidFill>
          <a:ln w="19050">
            <a:solidFill>
              <a:srgbClr val="6695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72694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9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936992" y="2587752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 통합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936992" y="286207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9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10,340건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20940" y="3136392"/>
            <a:ext cx="0" cy="256032"/>
          </a:xfrm>
          <a:prstGeom prst="line">
            <a:avLst/>
          </a:prstGeom>
          <a:noFill/>
          <a:ln w="19050">
            <a:solidFill>
              <a:srgbClr val="CFCFCF"/>
            </a:solidFill>
            <a:prstDash val="dash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0" name="Shape 28"/>
          <p:cNvSpPr/>
          <p:nvPr/>
        </p:nvSpPr>
        <p:spPr>
          <a:xfrm>
            <a:off x="7269480" y="339242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9E9E9"/>
          </a:solidFill>
          <a:ln w="19050">
            <a:solidFill>
              <a:srgbClr val="6695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726948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9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936992" y="3374136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교사 생성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936992" y="3648456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9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R2 · R3 · R4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20940" y="3922776"/>
            <a:ext cx="0" cy="256032"/>
          </a:xfrm>
          <a:prstGeom prst="line">
            <a:avLst/>
          </a:prstGeom>
          <a:noFill/>
          <a:ln w="19050">
            <a:solidFill>
              <a:srgbClr val="CFCFCF"/>
            </a:solidFill>
            <a:prstDash val="dash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Shape 33"/>
          <p:cNvSpPr/>
          <p:nvPr/>
        </p:nvSpPr>
        <p:spPr>
          <a:xfrm>
            <a:off x="7269480" y="417880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9E9E9"/>
          </a:solidFill>
          <a:ln w="19050">
            <a:solidFill>
              <a:srgbClr val="6695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7269480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9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936992" y="4160520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QLoRA 학습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7936992" y="443484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9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 runs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520940" y="4709160"/>
            <a:ext cx="0" cy="256032"/>
          </a:xfrm>
          <a:prstGeom prst="line">
            <a:avLst/>
          </a:prstGeom>
          <a:noFill/>
          <a:ln w="19050">
            <a:solidFill>
              <a:srgbClr val="CFCFCF"/>
            </a:solidFill>
            <a:prstDash val="dash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Shape 38"/>
          <p:cNvSpPr/>
          <p:nvPr/>
        </p:nvSpPr>
        <p:spPr>
          <a:xfrm>
            <a:off x="7269480" y="496519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9E9E9"/>
          </a:solidFill>
          <a:ln w="19050">
            <a:solidFill>
              <a:srgbClr val="6695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7269480" y="4965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9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936992" y="4946904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미학습 도메인 추론 · 채점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7936992" y="5221224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9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strict / relaxed F1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 E S E A R C H   B R I E F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8076895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ADE  ·  Qwen2.5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r>
              <a:rPr lang="en-US" sz="10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0" y="4572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0" y="658368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129844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forum 학습 → literature 평가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1920240"/>
            <a:ext cx="146304" cy="146304"/>
          </a:xfrm>
          <a:prstGeom prst="rect">
            <a:avLst/>
          </a:prstGeom>
          <a:solidFill>
            <a:srgbClr val="9AA0A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069848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R0 </a:t>
            </a:r>
            <a:r>
              <a:rPr lang="en-US" sz="105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0" y="1920240"/>
            <a:ext cx="146304" cy="146304"/>
          </a:xfrm>
          <a:prstGeom prst="rect">
            <a:avLst/>
          </a:prstGeom>
          <a:solidFill>
            <a:srgbClr val="C8CDD2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2487168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R2 </a:t>
            </a:r>
            <a:r>
              <a:rPr lang="en-US" sz="105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자유서술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06240" y="1920240"/>
            <a:ext cx="146304" cy="146304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407408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R3 </a:t>
            </a:r>
            <a:r>
              <a:rPr lang="en-US" sz="105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23560" y="1920240"/>
            <a:ext cx="146304" cy="146304"/>
          </a:xfrm>
          <a:prstGeom prst="rect">
            <a:avLst/>
          </a:prstGeom>
          <a:solidFill>
            <a:srgbClr val="9F63E2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824728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R4 </a:t>
            </a:r>
            <a:r>
              <a:rPr lang="en-US" sz="105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구조화+판단</a:t>
            </a:r>
            <a:endParaRPr lang="en-US" sz="10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868680" y="2331720"/>
          <a:ext cx="73609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8549640" y="25146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669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59</a:t>
            </a:r>
            <a:endParaRPr lang="en-US" sz="6800" dirty="0"/>
          </a:p>
        </p:txBody>
      </p:sp>
      <p:sp>
        <p:nvSpPr>
          <p:cNvPr id="18" name="Text 15"/>
          <p:cNvSpPr txBox="1"/>
          <p:nvPr/>
        </p:nvSpPr>
        <p:spPr>
          <a:xfrm>
            <a:off x="8577072" y="3611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3B · R3 strict F1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(R2 대비 5.7배)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577072" y="4297680"/>
            <a:ext cx="2011680" cy="0"/>
          </a:xfrm>
          <a:prstGeom prst="line">
            <a:avLst/>
          </a:prstGeom>
          <a:noFill/>
          <a:ln w="25400">
            <a:solidFill>
              <a:srgbClr val="6695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8577072" y="44348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모델 크기에서 R3·R4가 R0·R2를 큰 폭으로 앞선다.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 E S E A R C H   B R I E F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8076895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ADE  ·  Qwen2.5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r>
              <a:rPr lang="en-US" sz="10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0" y="4572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0" y="658368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129844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literature 학습 → forum 평가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1920240"/>
            <a:ext cx="146304" cy="146304"/>
          </a:xfrm>
          <a:prstGeom prst="rect">
            <a:avLst/>
          </a:prstGeom>
          <a:solidFill>
            <a:srgbClr val="9AA0A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069848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R0 </a:t>
            </a:r>
            <a:r>
              <a:rPr lang="en-US" sz="105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0" y="1920240"/>
            <a:ext cx="146304" cy="146304"/>
          </a:xfrm>
          <a:prstGeom prst="rect">
            <a:avLst/>
          </a:prstGeom>
          <a:solidFill>
            <a:srgbClr val="C8CDD2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2487168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R2 </a:t>
            </a:r>
            <a:r>
              <a:rPr lang="en-US" sz="105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자유서술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06240" y="1920240"/>
            <a:ext cx="146304" cy="146304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407408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R3 </a:t>
            </a:r>
            <a:r>
              <a:rPr lang="en-US" sz="105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23560" y="1920240"/>
            <a:ext cx="146304" cy="146304"/>
          </a:xfrm>
          <a:prstGeom prst="rect">
            <a:avLst/>
          </a:prstGeom>
          <a:solidFill>
            <a:srgbClr val="9F63E2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824728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R4 </a:t>
            </a:r>
            <a:r>
              <a:rPr lang="en-US" sz="105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구조화+판단</a:t>
            </a:r>
            <a:endParaRPr lang="en-US" sz="10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868680" y="2331720"/>
          <a:ext cx="73609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8549640" y="25146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669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6800" dirty="0"/>
          </a:p>
        </p:txBody>
      </p:sp>
      <p:sp>
        <p:nvSpPr>
          <p:cNvPr id="18" name="Text 15"/>
          <p:cNvSpPr txBox="1"/>
          <p:nvPr/>
        </p:nvSpPr>
        <p:spPr>
          <a:xfrm>
            <a:off x="8577072" y="3611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1.5B · R3 strict F1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(전 방향 중 최고)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577072" y="4297680"/>
            <a:ext cx="2011680" cy="0"/>
          </a:xfrm>
          <a:prstGeom prst="line">
            <a:avLst/>
          </a:prstGeom>
          <a:noFill/>
          <a:ln w="25400">
            <a:solidFill>
              <a:srgbClr val="6695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8577072" y="44348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문헌→포럼은 더 어려운 방향이지만 구조화 우위는 그대로 유지된다.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 E S E A R C H   B R I E F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8076895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ADE  ·  Qwen2.5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r>
              <a:rPr lang="en-US" sz="10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0" y="4572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0" y="658368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Summary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129844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R3 · R4가 R2를 이긴 조합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286000"/>
            <a:ext cx="4663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9" name="Shape 7"/>
          <p:cNvSpPr/>
          <p:nvPr/>
        </p:nvSpPr>
        <p:spPr>
          <a:xfrm>
            <a:off x="1325880" y="3154680"/>
            <a:ext cx="3108960" cy="1051560"/>
          </a:xfrm>
          <a:prstGeom prst="rect">
            <a:avLst/>
          </a:prstGeom>
          <a:solidFill>
            <a:srgbClr val="C1FF72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234440" y="29260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18</a:t>
            </a:r>
            <a:endParaRPr lang="en-US" sz="7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526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× 도메인 × 시드 전체 조합에서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예외 없이 승리 (100%)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2414016"/>
            <a:ext cx="100584" cy="384048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199632" y="233172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격차는 매우 큼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2670048"/>
            <a:ext cx="5138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forum 학습 시 R2 strict F1 ~10 vs R3 ~50–60.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0" y="3584448"/>
            <a:ext cx="100584" cy="384048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199632" y="3502152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R2 &lt; R0의 이유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3840480"/>
            <a:ext cx="5138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R2의 열등함이 아니라, 자유서술에서 정확한 문자열을 복원하는 채점 파싱의 한계가 반영된 결과다.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0" y="4754880"/>
            <a:ext cx="100584" cy="384048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199632" y="4672584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H1 근거로 유효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5010912"/>
            <a:ext cx="5138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R3/R4 대비 우위는 H1의 근거로 그대로 유효하다.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 E S E A R C H   B R I E F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8076895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ADE  ·  Qwen2.5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r>
              <a:rPr lang="en-US" sz="10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0" y="4572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0" y="658368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H2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129844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H2는 지지되지 않는다 — 오히려 반대 방향</a:t>
            </a:r>
            <a:endParaRPr lang="en-US" sz="15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68680" y="2286000"/>
          <a:ext cx="653796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818120" y="2414016"/>
            <a:ext cx="100584" cy="384048"/>
          </a:xfrm>
          <a:prstGeom prst="rect">
            <a:avLst/>
          </a:prstGeom>
          <a:solidFill>
            <a:srgbClr val="9AA0A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8074152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(H2)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074152" y="26700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 작을수록 격차가 커야 한다.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818120" y="3602736"/>
            <a:ext cx="100584" cy="384048"/>
          </a:xfrm>
          <a:prstGeom prst="rect">
            <a:avLst/>
          </a:prstGeom>
          <a:solidFill>
            <a:srgbClr val="9F63E2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074152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074152" y="385876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0.5B +39.5 → 1.5B +44.2 → 3B +48.9pt 로 오히려 증가.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818120" y="4791456"/>
            <a:ext cx="100584" cy="384048"/>
          </a:xfrm>
          <a:prstGeom prst="rect">
            <a:avLst/>
          </a:prstGeom>
          <a:solidFill>
            <a:srgbClr val="9AA0A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8074152" y="4709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 원칙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074152" y="50474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사전등록에 따라 기각 결과를 그대로 보고한다.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 E S E A R C H   B R I E F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8076895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ADE  ·  Qwen2.5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r>
              <a:rPr lang="en-US" sz="10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0" y="4572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0" y="658368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129844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기반(RAG)은 파인튜닝을 대체하지 못한다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2024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파인튜닝 없이 학습 도메인 문서 + R3 교사 출력을 BM25로 검색해 k=3 few-shot으로 넣고, 베이스 3B 모델로 R3 형식을 흉내낸 결과 (검색은 결정론적이라 시드 없이 방향당 1회).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098280" y="3200400"/>
            <a:ext cx="2313432" cy="1207008"/>
          </a:xfrm>
          <a:prstGeom prst="rect">
            <a:avLst/>
          </a:prstGeom>
          <a:solidFill>
            <a:srgbClr val="E8F0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2697480"/>
            <a:ext cx="10545775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051560" y="2697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R0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R2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R3 (QLoRA)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69748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(파인튜닝 없음)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20040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forum → literature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320040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45.6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20040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2004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9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59.5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3200400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62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38.7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8680" y="3803904"/>
            <a:ext cx="10545775" cy="0"/>
          </a:xfrm>
          <a:prstGeom prst="line">
            <a:avLst/>
          </a:prstGeom>
          <a:noFill/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1051560" y="380390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literature → forum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886200" y="3803904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3803904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380390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9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20.1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3803904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62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8680" y="4407408"/>
            <a:ext cx="10545775" cy="0"/>
          </a:xfrm>
          <a:prstGeom prst="line">
            <a:avLst/>
          </a:prstGeom>
          <a:noFill/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868680" y="45171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strict F1, 3B 모델 기준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8680" y="4892040"/>
            <a:ext cx="5090008" cy="1143000"/>
          </a:xfrm>
          <a:prstGeom prst="roundRect">
            <a:avLst>
              <a:gd name="adj" fmla="val 6400"/>
            </a:avLst>
          </a:prstGeom>
          <a:solidFill>
            <a:srgbClr val="FDFDFB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0" name="Shape 28"/>
          <p:cNvSpPr/>
          <p:nvPr/>
        </p:nvSpPr>
        <p:spPr>
          <a:xfrm>
            <a:off x="1124712" y="5166360"/>
            <a:ext cx="100584" cy="594360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1344168" y="5074920"/>
            <a:ext cx="435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RAG는 R2보다 훨씬 낫지만 QLoRA R3/R4에는 못 미친다 — 두 방향 모두 R0와 비슷한 수준에 머문다.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24448" y="4892040"/>
            <a:ext cx="5090008" cy="1143000"/>
          </a:xfrm>
          <a:prstGeom prst="roundRect">
            <a:avLst>
              <a:gd name="adj" fmla="val 6400"/>
            </a:avLst>
          </a:prstGeom>
          <a:solidFill>
            <a:srgbClr val="FDFDFB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Shape 31"/>
          <p:cNvSpPr/>
          <p:nvPr/>
        </p:nvSpPr>
        <p:spPr>
          <a:xfrm>
            <a:off x="6580480" y="5166360"/>
            <a:ext cx="100584" cy="594360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6799936" y="5074920"/>
            <a:ext cx="435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검색된 예시가 형식을 흉내내는 데는 도움을 주지만, 가중치 자체를 갱신하는 QLoRA만큼의 이득은 주지 못한다.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 E S E A R C H   B R I E F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8076895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ADE  ·  Qwen2.5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r>
              <a:rPr lang="en-US" sz="10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0" y="4572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0" y="658368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129844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구조화는 이득이 있다 — 모델 크기에 반비례하지 않는다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011680"/>
            <a:ext cx="327141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9" name="Shape 7"/>
          <p:cNvSpPr/>
          <p:nvPr/>
        </p:nvSpPr>
        <p:spPr>
          <a:xfrm>
            <a:off x="114300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1430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8036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H1 지지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246120"/>
            <a:ext cx="27227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인과 구조를 명시한 구조화 형식(R3/R4)이 자유서술보다 도메인 간 일반화에서 일관되게 우수하다 (18/18).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05858" y="2011680"/>
            <a:ext cx="327141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4" name="Shape 12"/>
          <p:cNvSpPr/>
          <p:nvPr/>
        </p:nvSpPr>
        <p:spPr>
          <a:xfrm>
            <a:off x="4780178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F63E2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478017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780178" y="288036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H2 기각 · 반대 방향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780178" y="3246120"/>
            <a:ext cx="27227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구조화의 이득은 모델이 작을수록 커지지 않으며, 오히려 큰 모델에서 더 크게 나타난다.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43037" y="2011680"/>
            <a:ext cx="327141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9" name="Shape 17"/>
          <p:cNvSpPr/>
          <p:nvPr/>
        </p:nvSpPr>
        <p:spPr>
          <a:xfrm>
            <a:off x="8417357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AA0A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8417357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417357" y="288036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비대칭 재확인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417357" y="3246120"/>
            <a:ext cx="27227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문헌 ↔ 포럼 비대칭은 구조화가 줄이지만 완전히 없애지는 못한다.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8680" y="4251960"/>
            <a:ext cx="10545775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4" name="Shape 22"/>
          <p:cNvSpPr/>
          <p:nvPr/>
        </p:nvSpPr>
        <p:spPr>
          <a:xfrm>
            <a:off x="1143000" y="4553712"/>
            <a:ext cx="1600200" cy="329184"/>
          </a:xfrm>
          <a:prstGeom prst="rect">
            <a:avLst/>
          </a:prstGeom>
          <a:solidFill>
            <a:srgbClr val="C1FF72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14300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92608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143000" y="5138928"/>
            <a:ext cx="128016" cy="128016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1417320" y="5038344"/>
            <a:ext cx="9722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UMLS 승인 후 R1(용어 정규화)을 forum ↔ literature 주 축에 포함.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143000" y="5468112"/>
            <a:ext cx="128016" cy="128016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1417320" y="5367528"/>
            <a:ext cx="9722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temperature scaling 보정 및 risk–coverage curve (사전등록된 부 평가 지표).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143000" y="5797296"/>
            <a:ext cx="128016" cy="128016"/>
          </a:xfrm>
          <a:prstGeom prst="rect">
            <a:avLst/>
          </a:prstGeom>
          <a:solidFill>
            <a:srgbClr val="6695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1417320" y="5696712"/>
            <a:ext cx="9722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 데모로 형식별 출력 차이를 정성적으로 직접 비교.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52D757-BDC4-BB1E-76DF-B6F4402EC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766C92-EEAA-9321-E147-C58FBDBDCD2B}"/>
              </a:ext>
            </a:extLst>
          </p:cNvPr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 E S E A R C H   B R I E F</a:t>
            </a:r>
            <a:endParaRPr lang="en-US" sz="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E2DF85-6D62-CA40-8126-7F47395F9D57}"/>
              </a:ext>
            </a:extLst>
          </p:cNvPr>
          <p:cNvSpPr txBox="1"/>
          <p:nvPr/>
        </p:nvSpPr>
        <p:spPr>
          <a:xfrm>
            <a:off x="8076895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ADE  ·  Qwen2.5</a:t>
            </a:r>
            <a:endParaRPr lang="en-US" sz="8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F71C955-66F9-CA40-5B9C-34F266C49281}"/>
              </a:ext>
            </a:extLst>
          </p:cNvPr>
          <p:cNvSpPr/>
          <p:nvPr/>
        </p:nvSpPr>
        <p:spPr>
          <a:xfrm>
            <a:off x="3506993" y="2770641"/>
            <a:ext cx="4690333" cy="876201"/>
          </a:xfrm>
          <a:prstGeom prst="rect">
            <a:avLst/>
          </a:prstGeom>
          <a:solidFill>
            <a:srgbClr val="C1FF72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2B00B4F-CE01-1765-432C-6B73E73D49D1}"/>
              </a:ext>
            </a:extLst>
          </p:cNvPr>
          <p:cNvSpPr txBox="1"/>
          <p:nvPr/>
        </p:nvSpPr>
        <p:spPr>
          <a:xfrm>
            <a:off x="3925196" y="2778162"/>
            <a:ext cx="435684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6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6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BFC4333-02A4-B626-3438-B2CEC669A0B6}"/>
              </a:ext>
            </a:extLst>
          </p:cNvPr>
          <p:cNvSpPr/>
          <p:nvPr/>
        </p:nvSpPr>
        <p:spPr>
          <a:xfrm>
            <a:off x="868680" y="5989320"/>
            <a:ext cx="104698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2049025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1132</Words>
  <Application>Microsoft Macintosh PowerPoint</Application>
  <PresentationFormat>와이드스크린</PresentationFormat>
  <Paragraphs>213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유가을(학부생-비즈니스IT전공)</cp:lastModifiedBy>
  <cp:revision>3</cp:revision>
  <dcterms:created xsi:type="dcterms:W3CDTF">2026-08-26T09:46:15Z</dcterms:created>
  <dcterms:modified xsi:type="dcterms:W3CDTF">2026-08-26T09:52:25Z</dcterms:modified>
</cp:coreProperties>
</file>