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747066"/>
                </a:solidFill>
                <a:latin typeface="Calibri"/>
              </a:rPr>
              <a:t>strict F1, 시드 3개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R0</c:v>
                </c:pt>
              </c:strCache>
            </c:strRef>
          </c:tx>
          <c:spPr>
            <a:solidFill>
              <a:srgbClr val="9A9DA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37.20666666666667</c:v>
                </c:pt>
                <c:pt idx="1">
                  <c:v>45.096666666666664</c:v>
                </c:pt>
                <c:pt idx="2">
                  <c:v>45.556666666666665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C98A5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10.153333333333334</c:v>
                </c:pt>
                <c:pt idx="1">
                  <c:v>10.200000000000001</c:v>
                </c:pt>
                <c:pt idx="2">
                  <c:v>10.540000000000001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4C8C7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49.68000000000001</c:v>
                </c:pt>
                <c:pt idx="1">
                  <c:v>54.35333333333333</c:v>
                </c:pt>
                <c:pt idx="2">
                  <c:v>59.46666666666667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8A74B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48.84</c:v>
                </c:pt>
                <c:pt idx="1">
                  <c:v>54.26333333333334</c:v>
                </c:pt>
                <c:pt idx="2">
                  <c:v>57.949999999999996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7181A"/>
            </a:solidFill>
          </a:ln>
        </c:spPr>
        <c:txPr>
          <a:bodyPr/>
          <a:lstStyle/>
          <a:p>
            <a:pPr>
              <a:defRPr sz="1300"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 w="6350">
              <a:solidFill>
                <a:srgbClr val="D5CFC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CFC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747066"/>
                </a:solidFill>
                <a:latin typeface="Calibri"/>
              </a:rPr>
              <a:t>strict F1, 시드 3개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R0</c:v>
                </c:pt>
              </c:strCache>
            </c:strRef>
          </c:tx>
          <c:spPr>
            <a:solidFill>
              <a:srgbClr val="9A9DA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9.216666666666667</c:v>
                </c:pt>
                <c:pt idx="1">
                  <c:v>16.146666666666665</c:v>
                </c:pt>
                <c:pt idx="2">
                  <c:v>11.126666666666667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C98A5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4.493333333333333</c:v>
                </c:pt>
                <c:pt idx="1">
                  <c:v>5.140000000000001</c:v>
                </c:pt>
                <c:pt idx="2">
                  <c:v>4.906666666666667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4C8C7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19.436666666666667</c:v>
                </c:pt>
                <c:pt idx="1">
                  <c:v>25.006666666666664</c:v>
                </c:pt>
                <c:pt idx="2">
                  <c:v>20.096666666666668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8A74B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19.63</c:v>
                </c:pt>
                <c:pt idx="1">
                  <c:v>25.036666666666665</c:v>
                </c:pt>
                <c:pt idx="2">
                  <c:v>21.820000000000004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7181A"/>
            </a:solidFill>
          </a:ln>
        </c:spPr>
        <c:txPr>
          <a:bodyPr/>
          <a:lstStyle/>
          <a:p>
            <a:pPr>
              <a:defRPr sz="1300"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 w="6350">
              <a:solidFill>
                <a:srgbClr val="D5CFC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CFC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747066"/>
                </a:solidFill>
                <a:latin typeface="Calibri"/>
              </a:rPr>
              <a:t>R3 − R2 격차 (strict F1, pt)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forum → literature</c:v>
                </c:pt>
              </c:strCache>
            </c:strRef>
          </c:tx>
          <c:spPr>
            <a:ln w="28575">
              <a:solidFill>
                <a:srgbClr val="4C8C7E"/>
              </a:solidFill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39.52666666666667</c:v>
                </c:pt>
                <c:pt idx="1">
                  <c:v>44.15333333333333</c:v>
                </c:pt>
                <c:pt idx="2">
                  <c:v>48.92666666666667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literature → forum</c:v>
                </c:pt>
              </c:strCache>
            </c:strRef>
          </c:tx>
          <c:spPr>
            <a:ln w="28575">
              <a:solidFill>
                <a:srgbClr val="C98A54"/>
              </a:solidFill>
            </a:ln>
          </c:spPr>
          <c:cat>
            <c:strRef>
              <c:f>Sheet1!$A$2:$A$4</c:f>
              <c:strCache>
                <c:ptCount val="3"/>
                <c:pt idx="0">
                  <c:v>0.5B</c:v>
                </c:pt>
                <c:pt idx="1">
                  <c:v>1.5B</c:v>
                </c:pt>
                <c:pt idx="2">
                  <c:v>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14.943333333333335</c:v>
                </c:pt>
                <c:pt idx="1">
                  <c:v>19.866666666666664</c:v>
                </c:pt>
                <c:pt idx="2">
                  <c:v>15.190000000000001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7181A"/>
            </a:solidFill>
          </a:ln>
        </c:spPr>
        <c:txPr>
          <a:bodyPr/>
          <a:lstStyle/>
          <a:p>
            <a:pPr>
              <a:defRPr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5CFC0"/>
            </a:solidFill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>
              <a:latin typeface="Consola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R E S E A R C H   B R I E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03120"/>
            <a:ext cx="935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C8C7E"/>
                </a:solidFill>
                <a:latin typeface="Calibri"/>
              </a:rPr>
              <a:t>R E S E A R C H   B R I E 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514600"/>
            <a:ext cx="1005840" cy="0"/>
          </a:xfrm>
          <a:prstGeom prst="line">
            <a:avLst/>
          </a:prstGeom>
          <a:ln w="2540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2697480"/>
            <a:ext cx="9357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7181A"/>
                </a:solidFill>
                <a:latin typeface="Cambria"/>
              </a:rPr>
              <a:t>표현 형식이 소형 언어모델의</a:t>
            </a:r>
          </a:p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7181A"/>
                </a:solidFill>
                <a:latin typeface="Cambria"/>
              </a:rPr>
              <a:t>도메인 간 이상반응(ADE) 추출에</a:t>
            </a:r>
          </a:p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7181A"/>
                </a:solidFill>
                <a:latin typeface="Cambria"/>
              </a:rPr>
              <a:t>미치는 영향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70916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47066"/>
                </a:solidFill>
                <a:latin typeface="Consolas"/>
              </a:rPr>
              <a:t>Qwen2.5 (0.5B / 1.5B / 3B)  ·  QLoRA  ·  R0 · R2 · R3 · R4  ·  forum ↔ 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배 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7181A"/>
                </a:solidFill>
                <a:latin typeface="Cambria"/>
              </a:rPr>
              <a:t>소형 모델의 도메인 간 ADE 추출은</a:t>
            </a:r>
          </a:p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7181A"/>
                </a:solidFill>
                <a:latin typeface="Cambria"/>
              </a:rPr>
              <a:t>왜 어려운가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691640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ADE(약물 이상반응) 추출은 약물감시(pharmacovigilance)의 핵심 과제다.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5694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569464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포럼(SNS 후기)과 논문 초록(문헌) 사이의 어휘·문체 차이로 도메인 전이가 특히 어렵다.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4472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447288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MultiADE(Dai et al., 2024)가 동일 코퍼스군에서 이 비대칭을 실측했다.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3251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325112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본 연구는 모델 구조가 아니라 학습 데이터의 표현 형식을 조작해 개입한다.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0" y="1691640"/>
            <a:ext cx="0" cy="4206240"/>
          </a:xfrm>
          <a:prstGeom prst="line">
            <a:avLst/>
          </a:prstGeom>
          <a:ln w="9525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47066"/>
                </a:solidFill>
                <a:latin typeface="Calibri"/>
              </a:rPr>
              <a:t>M U L T I A D E   기 준 선   ( F 1 )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01000" y="2057400"/>
          <a:ext cx="356616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888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747066"/>
                          </a:solidFill>
                          <a:latin typeface="Calibri"/>
                        </a:rPr>
                        <a:t>학습 → 평가</a:t>
                      </a:r>
                    </a:p>
                  </a:txBody>
                  <a:tcPr anchor="b" marB="508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74706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b" marB="50800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PsyTAR→PHEE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27.6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CADEC→PHEE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PHEE→CADEC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PHEE→PsyTAR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81A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001000" y="2514600"/>
            <a:ext cx="3566160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01000" y="2971800"/>
            <a:ext cx="356616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3429000"/>
            <a:ext cx="356616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01000" y="3886200"/>
            <a:ext cx="356616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01000" y="4343400"/>
            <a:ext cx="356616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01000" y="4480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4C8C7E"/>
                </a:solidFill>
                <a:latin typeface="Cambria"/>
              </a:rPr>
              <a:t>4.2×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212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문헌→포럼이 포럼→문헌보다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평균 4배 이상 어렵다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질 문   &amp;   가 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7181A"/>
                </a:solidFill>
                <a:latin typeface="Cambria"/>
              </a:rPr>
              <a:t>표현 형식이 일반화 성능을</a:t>
            </a:r>
          </a:p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7181A"/>
                </a:solidFill>
                <a:latin typeface="Cambria"/>
              </a:rPr>
              <a:t>좌우하는가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1691640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1">
                <a:solidFill>
                  <a:srgbClr val="17181A"/>
                </a:solidFill>
                <a:latin typeface="Cambria"/>
              </a:rPr>
              <a:t>학습 데이터의 표현 형식이 소형 생성 언어모델(0.5B–3B)의 도메인 간 ADE 추출</a:t>
            </a:r>
          </a:p>
          <a:p>
            <a:pPr algn="l">
              <a:lnSpc>
                <a:spcPct val="135000"/>
              </a:lnSpc>
            </a:pPr>
            <a:r>
              <a:rPr sz="1650" b="0" i="1">
                <a:solidFill>
                  <a:srgbClr val="17181A"/>
                </a:solidFill>
                <a:latin typeface="Cambria"/>
              </a:rPr>
              <a:t>일반화에 영향을 주는가? 그 효과는 모델 크기가 작을수록 커지는가?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834640"/>
            <a:ext cx="9357055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9456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onsolas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80311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7181A"/>
                </a:solidFill>
                <a:latin typeface="Calibri"/>
              </a:rPr>
              <a:t>인과 구조를 명시한 형식(R3/R4)이, 동일 교사·동일 원문의 자유서술(R2)보다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7181A"/>
                </a:solidFill>
                <a:latin typeface="Calibri"/>
              </a:rPr>
              <a:t>미학습 도메인에서 높은 F1을 보인다.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8770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onsolas"/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877056"/>
            <a:ext cx="80311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7181A"/>
                </a:solidFill>
                <a:latin typeface="Calibri"/>
              </a:rPr>
              <a:t>H1의 효과 크기는 모델 파라미터 수가 작을수록 크다.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34924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47066"/>
                </a:solidFill>
                <a:latin typeface="Calibri"/>
              </a:rPr>
              <a:t>사전등록: H1·H2가 기각되어도 결과로 보고한다 (falsifiable).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실 험   설 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2066544"/>
            <a:ext cx="146304" cy="146304"/>
          </a:xfrm>
          <a:prstGeom prst="rect">
            <a:avLst/>
          </a:prstGeom>
          <a:solidFill>
            <a:srgbClr val="9A9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49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원문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2633472"/>
            <a:ext cx="146304" cy="146304"/>
          </a:xfrm>
          <a:prstGeom prst="rect">
            <a:avLst/>
          </a:prstGeom>
          <a:solidFill>
            <a:srgbClr val="C9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16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자유서술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200400"/>
            <a:ext cx="146304" cy="146304"/>
          </a:xfrm>
          <a:prstGeom prst="rect">
            <a:avLst/>
          </a:prstGeom>
          <a:solidFill>
            <a:srgbClr val="4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1455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383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구조화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3767328"/>
            <a:ext cx="146304" cy="146304"/>
          </a:xfrm>
          <a:prstGeom prst="rect">
            <a:avLst/>
          </a:prstGeom>
          <a:solidFill>
            <a:srgbClr val="8A7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12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구조화+판단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7181A"/>
                </a:solidFill>
                <a:latin typeface="Cambria"/>
              </a:rPr>
              <a:t>4가지 표현 형식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194560" y="1691640"/>
          <a:ext cx="941832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/>
                <a:gridCol w="2926080"/>
                <a:gridCol w="5303520"/>
              </a:tblGrid>
              <a:tr h="56692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747066"/>
                          </a:solidFill>
                          <a:latin typeface="Calibri"/>
                        </a:rPr>
                        <a:t>조건</a:t>
                      </a:r>
                    </a:p>
                  </a:txBody>
                  <a:tcPr anchor="b" marB="508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747066"/>
                          </a:solidFill>
                          <a:latin typeface="Calibri"/>
                        </a:rPr>
                        <a:t>형식</a:t>
                      </a:r>
                    </a:p>
                  </a:txBody>
                  <a:tcPr anchor="b" marB="5080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747066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 anchor="b" marB="50800">
                    <a:solidFill>
                      <a:srgbClr val="F7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A9DA3"/>
                          </a:solidFill>
                          <a:latin typeface="Consolas"/>
                        </a:rPr>
                        <a:t>R0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원문 그대로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교사 미사용, 원본 주석을 그대로 목표 출력으로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98A54"/>
                          </a:solidFill>
                          <a:latin typeface="Consolas"/>
                        </a:rPr>
                        <a:t>R2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자유서술 (통제군)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교사가 3–5문장 산문으로 설명 — 구조 없이 지식만 전이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C8C7E"/>
                          </a:solidFill>
                          <a:latin typeface="Consolas"/>
                        </a:rPr>
                        <a:t>R3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구조화 필드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drug / event / context / onset / severity 등 고정 필드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A74B0"/>
                          </a:solidFill>
                          <a:latin typeface="Consolas"/>
                        </a:rPr>
                        <a:t>R4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구조화 + 판단 근거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7181A"/>
                          </a:solidFill>
                          <a:latin typeface="Calibri"/>
                        </a:rPr>
                        <a:t>R3 + judgement(인과 판단 한 줄) 추가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2194560" y="2258568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94560" y="2825496"/>
            <a:ext cx="9357055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94560" y="3392424"/>
            <a:ext cx="9357055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94560" y="3959352"/>
            <a:ext cx="9357055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94560" y="4526280"/>
            <a:ext cx="9357055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94560" y="5532120"/>
            <a:ext cx="9357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47066"/>
                </a:solidFill>
                <a:latin typeface="Consolas"/>
              </a:rPr>
              <a:t>통제 조건 — 교사 모델·원문·생성 파라미터 동일 / 출력 토큰 수 ±20% 이내 / 교사는 오픈웨이트만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데 이 터   &amp;   방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7181A"/>
                </a:solidFill>
                <a:latin typeface="Cambria"/>
              </a:rPr>
              <a:t>72개 조합 = 모델 3 × 조건 4</a:t>
            </a:r>
          </a:p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7181A"/>
                </a:solidFill>
                <a:latin typeface="Cambria"/>
              </a:rPr>
              <a:t>× 도메인 2 × 시드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965960"/>
            <a:ext cx="4279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7181A"/>
                </a:solidFill>
                <a:latin typeface="Calibri"/>
              </a:rPr>
              <a:t>코퍼스 — CADECv2(3,526) · CADEC v1(1,155) · PsyTAR(835) · PHEE(4,824)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8437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843784"/>
            <a:ext cx="4279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7181A"/>
                </a:solidFill>
                <a:latin typeface="Calibri"/>
              </a:rPr>
              <a:t>학생 모델 — Qwen2.5-Instruct 0.5B / 1.5B / 3B, QLoRA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7216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721608"/>
            <a:ext cx="4279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7181A"/>
                </a:solidFill>
                <a:latin typeface="Calibri"/>
              </a:rPr>
              <a:t>교사 모델 — Qwen2.5-7B-Instruct (오픈웨이트, R2/R3/R4 생성 전용)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599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599432"/>
            <a:ext cx="4279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7181A"/>
                </a:solidFill>
                <a:latin typeface="Calibri"/>
              </a:rPr>
              <a:t>평가 — 도메인당 고정 샘플 400건, strict/relaxed F1 병행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1965960"/>
            <a:ext cx="0" cy="3931920"/>
          </a:xfrm>
          <a:prstGeom prst="line">
            <a:avLst/>
          </a:prstGeom>
          <a:ln w="9525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8096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C8C7E"/>
                </a:solidFill>
                <a:latin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3317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원문 통합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(10,340건)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C8C7E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3317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교사 생성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R2 · R3 · R4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C8C7E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3317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QLoRA 학습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(72 runs)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C8C7E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2331720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미학습 도메인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7181A"/>
                </a:solidFill>
                <a:latin typeface="Calibri"/>
              </a:rPr>
              <a:t>추론·채점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80960" y="3429000"/>
            <a:ext cx="411480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60920" y="384048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세션 분리 — 교사 추론과 학생 학습을 별도 GPU 세션에서 실행.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체크포인트/재개 지원으로 세션 중단에도 안전.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결 과   —   H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2066544"/>
            <a:ext cx="146304" cy="146304"/>
          </a:xfrm>
          <a:prstGeom prst="rect">
            <a:avLst/>
          </a:prstGeom>
          <a:solidFill>
            <a:srgbClr val="9A9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49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원문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2633472"/>
            <a:ext cx="146304" cy="146304"/>
          </a:xfrm>
          <a:prstGeom prst="rect">
            <a:avLst/>
          </a:prstGeom>
          <a:solidFill>
            <a:srgbClr val="C9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16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자유서술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200400"/>
            <a:ext cx="146304" cy="146304"/>
          </a:xfrm>
          <a:prstGeom prst="rect">
            <a:avLst/>
          </a:prstGeom>
          <a:solidFill>
            <a:srgbClr val="4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1455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383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구조화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3767328"/>
            <a:ext cx="146304" cy="146304"/>
          </a:xfrm>
          <a:prstGeom prst="rect">
            <a:avLst/>
          </a:prstGeom>
          <a:solidFill>
            <a:srgbClr val="8A7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12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구조화+판단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7181A"/>
                </a:solidFill>
                <a:latin typeface="Cambria"/>
              </a:rPr>
              <a:t>forum 학습 → literature 평가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194560" y="1600200"/>
          <a:ext cx="6888175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402775" y="21031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4C8C7E"/>
                </a:solidFill>
                <a:latin typeface="Cambria"/>
              </a:rP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2775" y="28346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3B · R3 strict F1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(R2 대비 5.7배)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02775" y="3749039"/>
            <a:ext cx="182880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02775" y="393192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47066"/>
                </a:solidFill>
                <a:latin typeface="Calibri"/>
              </a:rPr>
              <a:t>모든 모델 크기에서 R3·R4가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47066"/>
                </a:solidFill>
                <a:latin typeface="Calibri"/>
              </a:rPr>
              <a:t>R0·R2를 큰 폭으로 앞선다.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결 과   —   H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2066544"/>
            <a:ext cx="146304" cy="146304"/>
          </a:xfrm>
          <a:prstGeom prst="rect">
            <a:avLst/>
          </a:prstGeom>
          <a:solidFill>
            <a:srgbClr val="9A9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49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원문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2633472"/>
            <a:ext cx="146304" cy="146304"/>
          </a:xfrm>
          <a:prstGeom prst="rect">
            <a:avLst/>
          </a:prstGeom>
          <a:solidFill>
            <a:srgbClr val="C9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163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자유서술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3200400"/>
            <a:ext cx="146304" cy="146304"/>
          </a:xfrm>
          <a:prstGeom prst="rect">
            <a:avLst/>
          </a:prstGeom>
          <a:solidFill>
            <a:srgbClr val="4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1455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383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구조화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3767328"/>
            <a:ext cx="146304" cy="146304"/>
          </a:xfrm>
          <a:prstGeom prst="rect">
            <a:avLst/>
          </a:prstGeom>
          <a:solidFill>
            <a:srgbClr val="8A7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12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950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08E"/>
                </a:solidFill>
                <a:latin typeface="Calibri"/>
              </a:rPr>
              <a:t>구조화+판단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17181A"/>
                </a:solidFill>
                <a:latin typeface="Cambria"/>
              </a:rPr>
              <a:t>literature 학습 → forum 평가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194560" y="1600200"/>
          <a:ext cx="6888175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402775" y="21031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4C8C7E"/>
                </a:solidFill>
                <a:latin typeface="Cambria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2775" y="28346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1.5B · R3 strict F1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(전 방향 중 최고)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02775" y="3749039"/>
            <a:ext cx="1828800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02775" y="393192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47066"/>
                </a:solidFill>
                <a:latin typeface="Calibri"/>
              </a:rPr>
              <a:t>문헌→포럼은 더 어려운 방향이지만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47066"/>
                </a:solidFill>
                <a:latin typeface="Calibri"/>
              </a:rPr>
              <a:t>구조화 우위는 그대로 유지된다.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H 1   요 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7181A"/>
                </a:solidFill>
                <a:latin typeface="Cambria"/>
              </a:rPr>
              <a:t>R3 · R4가 R2를 이긴 조합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17373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4C8C7E"/>
                </a:solidFill>
                <a:latin typeface="Cambria"/>
              </a:rPr>
              <a:t>18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2004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47066"/>
                </a:solidFill>
                <a:latin typeface="Calibri"/>
              </a:rPr>
              <a:t>모델 × 도메인 × 시드 전체 조합에서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47066"/>
                </a:solidFill>
                <a:latin typeface="Calibri"/>
              </a:rPr>
              <a:t>예외 없이 승리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1737360"/>
            <a:ext cx="0" cy="3566160"/>
          </a:xfrm>
          <a:prstGeom prst="line">
            <a:avLst/>
          </a:prstGeom>
          <a:ln w="9525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9224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1737360"/>
            <a:ext cx="4828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7181A"/>
                </a:solidFill>
                <a:latin typeface="Calibri"/>
              </a:rPr>
              <a:t>격차는 매우 큼 — forum 학습 시 R2 strict F1 ~10 vs R3 ~50–60.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15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615184"/>
            <a:ext cx="4828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7181A"/>
                </a:solidFill>
                <a:latin typeface="Calibri"/>
              </a:rPr>
              <a:t>R2가 R0보다도 낮은 것은 R2의 열등함이 아니라, 자유서술에서 정확한 문자열을 복원하는 채점 파싱의 한계가 반영된 결과다.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93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493008"/>
            <a:ext cx="4828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7181A"/>
                </a:solidFill>
                <a:latin typeface="Calibri"/>
              </a:rPr>
              <a:t>R3/R4 대비 우위는 H1의 근거로 유효하다.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결 과   —   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7181A"/>
                </a:solidFill>
                <a:latin typeface="Cambria"/>
              </a:rPr>
              <a:t>H2는 지지되지 않는다 — 오히려 반대 방향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194560" y="1600200"/>
          <a:ext cx="6035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275320" y="1600200"/>
            <a:ext cx="0" cy="4480560"/>
          </a:xfrm>
          <a:prstGeom prst="line">
            <a:avLst/>
          </a:prstGeom>
          <a:ln w="9525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1737360"/>
            <a:ext cx="2724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17181A"/>
                </a:solidFill>
                <a:latin typeface="Calibri"/>
              </a:rPr>
              <a:t>예상(H2) — 모델이 작을수록 격차가 커야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615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615184"/>
            <a:ext cx="2724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17181A"/>
                </a:solidFill>
                <a:latin typeface="Calibri"/>
              </a:rPr>
              <a:t>실제 — 0.5B +39.5 → 1.5B +44.2 → 3B +48.9pt로 오히려 증가.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856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785616"/>
            <a:ext cx="2724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17181A"/>
                </a:solidFill>
                <a:latin typeface="Calibri"/>
              </a:rPr>
              <a:t>사전등록 원칙에 따라 기각 결과를 그대로 보고한다.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결 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5806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08E"/>
                </a:solidFill>
                <a:latin typeface="Consolas"/>
              </a:rPr>
              <a:t>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66928"/>
            <a:ext cx="9357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7181A"/>
                </a:solidFill>
                <a:latin typeface="Cambria"/>
              </a:rPr>
              <a:t>구조화는 이득이 있다 —</a:t>
            </a:r>
          </a:p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7181A"/>
                </a:solidFill>
                <a:latin typeface="Cambria"/>
              </a:rPr>
              <a:t>모델 크기에 반비례하지 않는다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371600"/>
            <a:ext cx="9357055" cy="0"/>
          </a:xfrm>
          <a:prstGeom prst="line">
            <a:avLst/>
          </a:prstGeom>
          <a:ln w="13970">
            <a:solidFill>
              <a:srgbClr val="171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83080"/>
            <a:ext cx="906444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H1 지지 — 인과 구조를 명시한 구조화 형식(R3/R4)이 자유서술보다 도메인 간 일반화에서 일관되게 우수하다 (18/18).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23160"/>
            <a:ext cx="906444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H2 기각, 반대 방향 — 구조화의 이득은 모델이 작을수록 커지지 않으며, 오히려 큰 모델에서 더 크게 나타난다.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063240"/>
            <a:ext cx="906444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17181A"/>
                </a:solidFill>
                <a:latin typeface="Calibri"/>
              </a:rPr>
              <a:t>문헌 ↔ 포럼 비대칭 재확인 — 구조화가 비대칭을 줄이지만 없애지는 못한다.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4160520"/>
            <a:ext cx="9357055" cy="0"/>
          </a:xfrm>
          <a:prstGeom prst="line">
            <a:avLst/>
          </a:prstGeom>
          <a:ln w="6350">
            <a:solidFill>
              <a:srgbClr val="D5C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9456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4C8C7E"/>
                </a:solidFill>
                <a:latin typeface="Calibri"/>
              </a:rPr>
              <a:t>다 음   단 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4754880"/>
            <a:ext cx="906444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UMLS 승인 후 R1(용어 정규화)을 forum ↔ literature 주 축에 포함.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2669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5266944"/>
            <a:ext cx="906444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temperature scaling 보정 및 risk–coverage curve (사전등록된 부 평가 지표).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779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C8C7E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5779008"/>
            <a:ext cx="906444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47066"/>
                </a:solidFill>
                <a:latin typeface="Calibri"/>
              </a:rPr>
              <a:t>라이브 데모로 형식별 출력 차이를 정성적으로 직접 비교.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